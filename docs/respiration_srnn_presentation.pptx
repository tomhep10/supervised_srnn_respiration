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B2A3A"/>
                </a:solidFill>
              </a:defRPr>
            </a:pPr>
            <a:r>
              <a:t>Reading Social State from Respiration</a:t>
            </a:r>
          </a:p>
          <a:p>
            <a:pPr algn="ctr">
              <a:defRPr sz="2400">
                <a:solidFill>
                  <a:srgbClr val="1B7837"/>
                </a:solidFill>
              </a:defRPr>
            </a:pPr>
            <a:r>
              <a:t>A Switching RNN on the breathing waveform — Valence &amp; Rank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3A"/>
                </a:solidFill>
              </a:defRPr>
            </a:pPr>
            <a:r>
              <a:t>Valence — reconstruction (held-out)</a:t>
            </a:r>
          </a:p>
        </p:txBody>
      </p:sp>
      <p:pic>
        <p:nvPicPr>
          <p:cNvPr id="3" name="Picture 2" descr="resp_r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11196"/>
            <a:ext cx="6949440" cy="2258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19" y="1371600"/>
            <a:ext cx="4236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True vs SRNN-reconstructed breathing,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held-out windows (leave-one-subject-out).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AAAAAA"/>
                </a:solidFill>
              </a:defRPr>
            </a:pPr>
            <a:r>
              <a:t>• respiration/plot/resp_recon.png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743200"/>
            <a:ext cx="42062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per-fold held-out MSE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fold0   0.013761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fold1   0.002536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fold2   0.020521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fold3   0.012259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fold4   0.005540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fold5   0.003261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fold6   0.005920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fold7   0.010101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-------------------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MEAN    0.009237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(min .0025  max .0205)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3A"/>
                </a:solidFill>
              </a:defRPr>
            </a:pPr>
            <a:r>
              <a:t>Rank — reconstruction (held-out)</a:t>
            </a:r>
          </a:p>
        </p:txBody>
      </p:sp>
      <p:pic>
        <p:nvPicPr>
          <p:cNvPr id="3" name="Picture 2" descr="resp_r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11196"/>
            <a:ext cx="6949440" cy="2258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19" y="1371600"/>
            <a:ext cx="4236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True vs SRNN-reconstructed breathing,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held-out windows (leave-one-cage-out).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AAAAAA"/>
                </a:solidFill>
              </a:defRPr>
            </a:pPr>
            <a:r>
              <a:t>• respiration/plot_rank/resp_recon.png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926080"/>
            <a:ext cx="42062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per-fold held-out MSE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fold0   0.002808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fold1   0.005947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fold2   0.007453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fold3   0.004695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-------------------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MEAN    0.005226</a:t>
            </a:r>
          </a:p>
          <a:p>
            <a:pPr>
              <a:spcAft>
                <a:spcPts val="200"/>
              </a:spcAft>
              <a:defRPr sz="1700">
                <a:solidFill>
                  <a:srgbClr val="1B2A3A"/>
                </a:solidFill>
                <a:latin typeface="Consolas"/>
              </a:defRPr>
            </a:pPr>
            <a:r>
              <a:t>  (min .0028  max .0075)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3A"/>
                </a:solidFill>
              </a:defRPr>
            </a:pPr>
            <a:r>
              <a:t>Valence — discovered discrete states</a:t>
            </a:r>
          </a:p>
        </p:txBody>
      </p:sp>
      <p:pic>
        <p:nvPicPr>
          <p:cNvPr id="3" name="Picture 2" descr="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768096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371600"/>
            <a:ext cx="3504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Discovery mode (coef_cross = 0):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states learned from the breathing signal,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not from sniff labels.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Two dominant states ≈ inhale / exhale.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AAAAAA"/>
                </a:solidFill>
              </a:defRPr>
            </a:pPr>
            <a:r>
              <a:t>• respiration/plot/states.png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3A"/>
                </a:solidFill>
              </a:defRPr>
            </a:pPr>
            <a:r>
              <a:t>Switch rate → breathing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444444"/>
                </a:solidFill>
              </a:defRPr>
            </a:pPr>
            <a:r>
              <a:t>• Equation:    breathing_Hz = switch_rate × fs / 2      (fs = 50 Hz)</a:t>
            </a:r>
          </a:p>
          <a:p/>
          <a:p>
            <a:pPr>
              <a:spcAft>
                <a:spcPts val="500"/>
              </a:spcAft>
              <a:defRPr sz="2000">
                <a:solidFill>
                  <a:srgbClr val="444444"/>
                </a:solidFill>
              </a:defRPr>
            </a:pPr>
            <a:r>
              <a:t>• Why it works: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The two discovered states ≈ inhale and exhale.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One full breath = inhale → exhale = 2 state switches.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switch_rate = fraction of timesteps where the state changes (switches per sample).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switches/sec = switch_rate × fs ; breaths/sec = switches/sec ÷ 2.</a:t>
            </a:r>
          </a:p>
          <a:p/>
          <a:p>
            <a:pPr>
              <a:spcAft>
                <a:spcPts val="500"/>
              </a:spcAft>
              <a:defRPr sz="2000">
                <a:solidFill>
                  <a:srgbClr val="444444"/>
                </a:solidFill>
              </a:defRPr>
            </a:pPr>
            <a:r>
              <a:t>• Example recordings: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RI1_s2_4   switch_rate 0.354 → 8.86 Hz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RI1_s1_1   switch_rate 0.317 → 7.92 Hz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RI2_s3_5   switch_rate 0.231 → 5.77 Hz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RI2_s4_8   switch_rate 0.240 → 6.01 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3A"/>
                </a:solidFill>
              </a:defRPr>
            </a:pPr>
            <a:r>
              <a:t>Valence — breathing rate &amp; latent decode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>
                <a:solidFill>
                  <a:srgbClr val="444444"/>
                </a:solidFill>
              </a:defRPr>
            </a:pPr>
            <a:r>
              <a:t>• Breathing rate → valence:  ROC-AUC = 1.00  (n = 15 recordings).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    – Positive mean 7.93 Hz   |   Negative mean 6.51 Hz.</a:t>
            </a:r>
          </a:p>
          <a:p/>
          <a:p>
            <a:pPr>
              <a:spcAft>
                <a:spcPts val="500"/>
              </a:spcAft>
              <a:defRPr sz="2200">
                <a:solidFill>
                  <a:srgbClr val="444444"/>
                </a:solidFill>
              </a:defRPr>
            </a:pPr>
            <a:r>
              <a:t>• Leave-one-subject-out decode, balanced accuracy (chance = 0.5):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    – rate only ............................. 0.706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    – full latent h ......................... 0.762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    – latent h, rate regressed out .......... 0.756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3A"/>
                </a:solidFill>
              </a:defRPr>
            </a:pPr>
            <a:r>
              <a:t>Valence — permutation test (LOSO)</a:t>
            </a:r>
          </a:p>
        </p:txBody>
      </p:sp>
      <p:pic>
        <p:nvPicPr>
          <p:cNvPr id="3" name="Picture 2" descr="permutation_test_su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04288"/>
            <a:ext cx="7680960" cy="3072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371600"/>
            <a:ext cx="3504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Null: valence labels shuffled at recording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level; decode recomputed × 1000.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full latent: obs 0.762, null 0.387±0.118, p = 0.001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rate-removed: obs 0.756, null 0.393±0.112, p = 0.001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AAAAAA"/>
                </a:solidFill>
              </a:defRPr>
            </a:pPr>
            <a:r>
              <a:t>• respiration/plot/permutation_test_subject.png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3A"/>
                </a:solidFill>
              </a:defRPr>
            </a:pPr>
            <a:r>
              <a:t>Valence — LDA projection (LOSO)</a:t>
            </a:r>
          </a:p>
        </p:txBody>
      </p:sp>
      <p:pic>
        <p:nvPicPr>
          <p:cNvPr id="3" name="Picture 2" descr="lda_projection_su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43942"/>
            <a:ext cx="7680960" cy="27930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371600"/>
            <a:ext cx="3504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Held-out leave-one-subject-out LDA projection.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Left: per-window score by valence.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Right: per-recording means.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AAAAAA"/>
                </a:solidFill>
              </a:defRPr>
            </a:pPr>
            <a:r>
              <a:t>• respiration/plot/lda_projection_subject.png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3A"/>
                </a:solidFill>
              </a:defRPr>
            </a:pPr>
            <a:r>
              <a:t>Valence — latent PCA</a:t>
            </a:r>
          </a:p>
        </p:txBody>
      </p:sp>
      <p:pic>
        <p:nvPicPr>
          <p:cNvPr id="3" name="Picture 2" descr="pooled_latent_pca_by_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25880"/>
            <a:ext cx="603504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371600"/>
            <a:ext cx="3504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All 147 windows through one model (fold 0).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Per-window mean latent, 2 principal components,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colored by valence.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AAAAAA"/>
                </a:solidFill>
              </a:defRPr>
            </a:pPr>
            <a:r>
              <a:t>• respiration/plot/pooled_latent_pca_by_valence.png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3A"/>
                </a:solidFill>
              </a:defRPr>
            </a:pPr>
            <a:r>
              <a:t>Rank — breathing rate &amp; latent decode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444444"/>
                </a:solidFill>
              </a:defRPr>
            </a:pPr>
            <a:r>
              <a:t>• Data: 70 windows, 7 recordings, 4 cages (leave-one-cage-out).</a:t>
            </a:r>
          </a:p>
          <a:p>
            <a:pPr>
              <a:spcAft>
                <a:spcPts val="500"/>
              </a:spcAft>
              <a:defRPr sz="2000">
                <a:solidFill>
                  <a:srgbClr val="444444"/>
                </a:solidFill>
              </a:defRPr>
            </a:pPr>
            <a:r>
              <a:t>• Breathing rate → rank:  ROC-AUC = 0.333.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Dominant mean 6.87 Hz   |   Subordinate mean 7.55 Hz.</a:t>
            </a:r>
          </a:p>
          <a:p/>
          <a:p>
            <a:pPr>
              <a:spcAft>
                <a:spcPts val="500"/>
              </a:spcAft>
              <a:defRPr sz="2000">
                <a:solidFill>
                  <a:srgbClr val="444444"/>
                </a:solidFill>
              </a:defRPr>
            </a:pPr>
            <a:r>
              <a:t>• Leave-one-cage-out decode, balanced accuracy (chance = 0.5):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rate only ............................. 0.604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full latent h ......................... 0.446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latent h, rate regressed out .......... 0.550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decode permutation p: rate-removed 0.18, full latent 0.39.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3A"/>
                </a:solidFill>
              </a:defRPr>
            </a:pPr>
            <a:r>
              <a:t>Rank — LDA projection (LOCO)</a:t>
            </a:r>
          </a:p>
        </p:txBody>
      </p:sp>
      <p:pic>
        <p:nvPicPr>
          <p:cNvPr id="3" name="Picture 2" descr="lda_projection_c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43942"/>
            <a:ext cx="7680960" cy="27930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371600"/>
            <a:ext cx="3504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Held-out leave-one-cage-out LDA projection.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Left: per-window score by rank.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Right: per-recording means.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AAAAAA"/>
                </a:solidFill>
              </a:defRPr>
            </a:pPr>
            <a:r>
              <a:t>• respiration/plot_rank/lda_projection_cage.png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3A"/>
                </a:solidFill>
              </a:defRPr>
            </a:pPr>
            <a:r>
              <a:t>Rank — LDA permutation test (LOCO)</a:t>
            </a:r>
          </a:p>
        </p:txBody>
      </p:sp>
      <p:pic>
        <p:nvPicPr>
          <p:cNvPr id="3" name="Picture 2" descr="lda_permutation_c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1325880"/>
            <a:ext cx="62865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371600"/>
            <a:ext cx="3504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Statistic = ROC-AUC(per-recording mean LDA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score → rank), n = 7 recordings.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Observed AUC = 0.667.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Null mean 0.477 ± 0.316.</a:t>
            </a:r>
          </a:p>
          <a:p>
            <a:pPr>
              <a:spcAft>
                <a:spcPts val="500"/>
              </a:spcAft>
              <a:defRPr sz="1900">
                <a:solidFill>
                  <a:srgbClr val="444444"/>
                </a:solidFill>
              </a:defRPr>
            </a:pPr>
            <a:r>
              <a:t>• p = 0.40.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AAAAAA"/>
                </a:solidFill>
              </a:defRPr>
            </a:pPr>
            <a:r>
              <a:t>• respiration/plot_rank/lda_permutation_cage.png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3A"/>
                </a:solidFill>
              </a:defRPr>
            </a:pPr>
            <a:r>
              <a:t>Summary — key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444444"/>
                </a:solidFill>
              </a:defRPr>
            </a:pPr>
            <a:r>
              <a:t>• Valence (LOSO, 147 windows, 8 subjects):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rate → valence AUC 1.00 ; latent decode 0.762 (rate-removed 0.756) ; permutation p = 0.001.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reconstruction MSE mean 0.0092.</a:t>
            </a:r>
          </a:p>
          <a:p/>
          <a:p>
            <a:pPr>
              <a:spcAft>
                <a:spcPts val="500"/>
              </a:spcAft>
              <a:defRPr sz="2000">
                <a:solidFill>
                  <a:srgbClr val="444444"/>
                </a:solidFill>
              </a:defRPr>
            </a:pPr>
            <a:r>
              <a:t>• Rank (LOCO, 70 windows, 4 cages):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rate → rank AUC 0.333 ; latent decode 0.446 (rate-removed 0.550) ; decode permutation p = 0.18.</a:t>
            </a:r>
          </a:p>
          <a:p>
            <a:pPr>
              <a:spcAft>
                <a:spcPts val="500"/>
              </a:spcAft>
              <a:defRPr sz="1700">
                <a:solidFill>
                  <a:srgbClr val="444444"/>
                </a:solidFill>
              </a:defRPr>
            </a:pPr>
            <a:r>
              <a:t>    – per-recording LDA AUC 0.667, permutation p = 0.40 ; reconstruction MSE mean 0.0052.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